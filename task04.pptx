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0" r:id="rId6"/>
    <p:sldId id="271" r:id="rId7"/>
    <p:sldId id="272" r:id="rId8"/>
    <p:sldId id="277" r:id="rId9"/>
    <p:sldId id="273" r:id="rId10"/>
    <p:sldId id="276" r:id="rId11"/>
    <p:sldId id="278" r:id="rId12"/>
    <p:sldId id="279" r:id="rId13"/>
    <p:sldId id="280" r:id="rId14"/>
    <p:sldId id="282" r:id="rId15"/>
    <p:sldId id="281" r:id="rId16"/>
    <p:sldId id="283" r:id="rId17"/>
    <p:sldId id="267" r:id="rId1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>
        <p:scale>
          <a:sx n="66" d="100"/>
          <a:sy n="66" d="100"/>
        </p:scale>
        <p:origin x="4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4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867280-F16D-4E1C-8D79-CAECD3A87DE8}" type="doc">
      <dgm:prSet loTypeId="urn:microsoft.com/office/officeart/2005/8/layout/process1" loCatId="process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pt-BR"/>
        </a:p>
      </dgm:t>
    </dgm:pt>
    <dgm:pt modelId="{9B26B6BA-EC09-470A-B8DC-BF7EAEFE1213}">
      <dgm:prSet/>
      <dgm:spPr/>
      <dgm:t>
        <a:bodyPr/>
        <a:lstStyle/>
        <a:p>
          <a:r>
            <a:rPr lang="pt-BR" b="1" i="1"/>
            <a:t>VHDL</a:t>
          </a:r>
          <a:endParaRPr lang="pt-BR"/>
        </a:p>
      </dgm:t>
    </dgm:pt>
    <dgm:pt modelId="{BAB0DF4C-6813-49E8-BDA1-DB1A967C061E}" type="parTrans" cxnId="{6D55C667-EBB0-4DA9-A6C1-27DB871F7DB8}">
      <dgm:prSet/>
      <dgm:spPr/>
      <dgm:t>
        <a:bodyPr/>
        <a:lstStyle/>
        <a:p>
          <a:endParaRPr lang="pt-BR"/>
        </a:p>
      </dgm:t>
    </dgm:pt>
    <dgm:pt modelId="{813B0112-A30D-455B-AB8A-05AB5E2DA6D8}" type="sibTrans" cxnId="{6D55C667-EBB0-4DA9-A6C1-27DB871F7DB8}">
      <dgm:prSet/>
      <dgm:spPr/>
      <dgm:t>
        <a:bodyPr/>
        <a:lstStyle/>
        <a:p>
          <a:endParaRPr lang="pt-BR"/>
        </a:p>
      </dgm:t>
    </dgm:pt>
    <dgm:pt modelId="{55BFA832-102D-4A34-8DE3-87963511F09A}">
      <dgm:prSet/>
      <dgm:spPr/>
      <dgm:t>
        <a:bodyPr/>
        <a:lstStyle/>
        <a:p>
          <a:r>
            <a:rPr lang="pt-BR" b="1" i="1"/>
            <a:t>Tradução intermediária (Verilog)</a:t>
          </a:r>
          <a:endParaRPr lang="pt-BR"/>
        </a:p>
      </dgm:t>
    </dgm:pt>
    <dgm:pt modelId="{3CDF415D-0389-4245-9994-32CF3A6039FE}" type="parTrans" cxnId="{FF4F9120-D563-4EE2-A5EF-1B450515C7C0}">
      <dgm:prSet/>
      <dgm:spPr/>
      <dgm:t>
        <a:bodyPr/>
        <a:lstStyle/>
        <a:p>
          <a:endParaRPr lang="pt-BR"/>
        </a:p>
      </dgm:t>
    </dgm:pt>
    <dgm:pt modelId="{129AF019-F9D5-48CD-AAA7-BC26591FC785}" type="sibTrans" cxnId="{FF4F9120-D563-4EE2-A5EF-1B450515C7C0}">
      <dgm:prSet/>
      <dgm:spPr/>
      <dgm:t>
        <a:bodyPr/>
        <a:lstStyle/>
        <a:p>
          <a:endParaRPr lang="pt-BR"/>
        </a:p>
      </dgm:t>
    </dgm:pt>
    <dgm:pt modelId="{B74F7431-6FDC-4C3A-B4A8-B6BA499C56FE}">
      <dgm:prSet/>
      <dgm:spPr/>
      <dgm:t>
        <a:bodyPr/>
        <a:lstStyle/>
        <a:p>
          <a:r>
            <a:rPr lang="pt-BR" b="1" i="1"/>
            <a:t>Código C</a:t>
          </a:r>
          <a:endParaRPr lang="pt-BR"/>
        </a:p>
      </dgm:t>
    </dgm:pt>
    <dgm:pt modelId="{5CBB2831-2BD7-4186-A748-04FA82392952}" type="parTrans" cxnId="{0F5525AF-DB7B-4C09-BCC3-1DBAB36B8EC1}">
      <dgm:prSet/>
      <dgm:spPr/>
      <dgm:t>
        <a:bodyPr/>
        <a:lstStyle/>
        <a:p>
          <a:endParaRPr lang="pt-BR"/>
        </a:p>
      </dgm:t>
    </dgm:pt>
    <dgm:pt modelId="{0728092E-EB31-4A5B-88DA-423B78D3E490}" type="sibTrans" cxnId="{0F5525AF-DB7B-4C09-BCC3-1DBAB36B8EC1}">
      <dgm:prSet/>
      <dgm:spPr/>
      <dgm:t>
        <a:bodyPr/>
        <a:lstStyle/>
        <a:p>
          <a:endParaRPr lang="pt-BR"/>
        </a:p>
      </dgm:t>
    </dgm:pt>
    <dgm:pt modelId="{8D1C88C3-992D-4BFA-A836-93EB58985509}">
      <dgm:prSet/>
      <dgm:spPr/>
      <dgm:t>
        <a:bodyPr/>
        <a:lstStyle/>
        <a:p>
          <a:r>
            <a:rPr lang="pt-BR" b="1" i="1"/>
            <a:t>ESBMC</a:t>
          </a:r>
          <a:endParaRPr lang="pt-BR"/>
        </a:p>
      </dgm:t>
    </dgm:pt>
    <dgm:pt modelId="{D906FBAB-874D-468F-890A-B5E6DBC15834}" type="parTrans" cxnId="{79A37B8C-BB2A-40E3-BA3D-D5614D102E2D}">
      <dgm:prSet/>
      <dgm:spPr/>
      <dgm:t>
        <a:bodyPr/>
        <a:lstStyle/>
        <a:p>
          <a:endParaRPr lang="pt-BR"/>
        </a:p>
      </dgm:t>
    </dgm:pt>
    <dgm:pt modelId="{1919FDDA-FEC5-4A69-9BCB-C8055C1A5ECA}" type="sibTrans" cxnId="{79A37B8C-BB2A-40E3-BA3D-D5614D102E2D}">
      <dgm:prSet/>
      <dgm:spPr/>
      <dgm:t>
        <a:bodyPr/>
        <a:lstStyle/>
        <a:p>
          <a:endParaRPr lang="pt-BR"/>
        </a:p>
      </dgm:t>
    </dgm:pt>
    <dgm:pt modelId="{9035DCBA-91B9-4778-B614-A7B82B4D585C}" type="pres">
      <dgm:prSet presAssocID="{51867280-F16D-4E1C-8D79-CAECD3A87DE8}" presName="Name0" presStyleCnt="0">
        <dgm:presLayoutVars>
          <dgm:dir/>
          <dgm:resizeHandles val="exact"/>
        </dgm:presLayoutVars>
      </dgm:prSet>
      <dgm:spPr/>
    </dgm:pt>
    <dgm:pt modelId="{5CEB7452-85E7-4A08-ACCF-51E2B330CC8E}" type="pres">
      <dgm:prSet presAssocID="{9B26B6BA-EC09-470A-B8DC-BF7EAEFE1213}" presName="node" presStyleLbl="node1" presStyleIdx="0" presStyleCnt="4">
        <dgm:presLayoutVars>
          <dgm:bulletEnabled val="1"/>
        </dgm:presLayoutVars>
      </dgm:prSet>
      <dgm:spPr/>
    </dgm:pt>
    <dgm:pt modelId="{783FA656-DB31-47CE-8F3D-40FCA80FE8CA}" type="pres">
      <dgm:prSet presAssocID="{813B0112-A30D-455B-AB8A-05AB5E2DA6D8}" presName="sibTrans" presStyleLbl="sibTrans2D1" presStyleIdx="0" presStyleCnt="3"/>
      <dgm:spPr/>
    </dgm:pt>
    <dgm:pt modelId="{6ED61706-C42A-471F-8A92-75EF29F94056}" type="pres">
      <dgm:prSet presAssocID="{813B0112-A30D-455B-AB8A-05AB5E2DA6D8}" presName="connectorText" presStyleLbl="sibTrans2D1" presStyleIdx="0" presStyleCnt="3"/>
      <dgm:spPr/>
    </dgm:pt>
    <dgm:pt modelId="{60946F5A-1D80-437D-B216-45C88E467599}" type="pres">
      <dgm:prSet presAssocID="{55BFA832-102D-4A34-8DE3-87963511F09A}" presName="node" presStyleLbl="node1" presStyleIdx="1" presStyleCnt="4">
        <dgm:presLayoutVars>
          <dgm:bulletEnabled val="1"/>
        </dgm:presLayoutVars>
      </dgm:prSet>
      <dgm:spPr/>
    </dgm:pt>
    <dgm:pt modelId="{6B7B835B-B328-4EAC-922E-A94FC724975B}" type="pres">
      <dgm:prSet presAssocID="{129AF019-F9D5-48CD-AAA7-BC26591FC785}" presName="sibTrans" presStyleLbl="sibTrans2D1" presStyleIdx="1" presStyleCnt="3"/>
      <dgm:spPr/>
    </dgm:pt>
    <dgm:pt modelId="{8E4D39EA-9505-48F1-A643-F1673F7E594C}" type="pres">
      <dgm:prSet presAssocID="{129AF019-F9D5-48CD-AAA7-BC26591FC785}" presName="connectorText" presStyleLbl="sibTrans2D1" presStyleIdx="1" presStyleCnt="3"/>
      <dgm:spPr/>
    </dgm:pt>
    <dgm:pt modelId="{A74B1D16-C469-41A1-AF95-10E54040FBC9}" type="pres">
      <dgm:prSet presAssocID="{B74F7431-6FDC-4C3A-B4A8-B6BA499C56FE}" presName="node" presStyleLbl="node1" presStyleIdx="2" presStyleCnt="4">
        <dgm:presLayoutVars>
          <dgm:bulletEnabled val="1"/>
        </dgm:presLayoutVars>
      </dgm:prSet>
      <dgm:spPr/>
    </dgm:pt>
    <dgm:pt modelId="{C76F2B78-3037-4B85-BCD5-AA854B6BA0AE}" type="pres">
      <dgm:prSet presAssocID="{0728092E-EB31-4A5B-88DA-423B78D3E490}" presName="sibTrans" presStyleLbl="sibTrans2D1" presStyleIdx="2" presStyleCnt="3"/>
      <dgm:spPr/>
    </dgm:pt>
    <dgm:pt modelId="{836DF8FD-EBDB-4E08-90CF-92F41E0249E5}" type="pres">
      <dgm:prSet presAssocID="{0728092E-EB31-4A5B-88DA-423B78D3E490}" presName="connectorText" presStyleLbl="sibTrans2D1" presStyleIdx="2" presStyleCnt="3"/>
      <dgm:spPr/>
    </dgm:pt>
    <dgm:pt modelId="{AFC46D88-7595-4C33-BC56-F49550DC7D6A}" type="pres">
      <dgm:prSet presAssocID="{8D1C88C3-992D-4BFA-A836-93EB58985509}" presName="node" presStyleLbl="node1" presStyleIdx="3" presStyleCnt="4">
        <dgm:presLayoutVars>
          <dgm:bulletEnabled val="1"/>
        </dgm:presLayoutVars>
      </dgm:prSet>
      <dgm:spPr/>
    </dgm:pt>
  </dgm:ptLst>
  <dgm:cxnLst>
    <dgm:cxn modelId="{FF4F9120-D563-4EE2-A5EF-1B450515C7C0}" srcId="{51867280-F16D-4E1C-8D79-CAECD3A87DE8}" destId="{55BFA832-102D-4A34-8DE3-87963511F09A}" srcOrd="1" destOrd="0" parTransId="{3CDF415D-0389-4245-9994-32CF3A6039FE}" sibTransId="{129AF019-F9D5-48CD-AAA7-BC26591FC785}"/>
    <dgm:cxn modelId="{3982DF2C-F6E9-4640-BD1F-1579DE14455B}" type="presOf" srcId="{813B0112-A30D-455B-AB8A-05AB5E2DA6D8}" destId="{6ED61706-C42A-471F-8A92-75EF29F94056}" srcOrd="1" destOrd="0" presId="urn:microsoft.com/office/officeart/2005/8/layout/process1"/>
    <dgm:cxn modelId="{6D55C667-EBB0-4DA9-A6C1-27DB871F7DB8}" srcId="{51867280-F16D-4E1C-8D79-CAECD3A87DE8}" destId="{9B26B6BA-EC09-470A-B8DC-BF7EAEFE1213}" srcOrd="0" destOrd="0" parTransId="{BAB0DF4C-6813-49E8-BDA1-DB1A967C061E}" sibTransId="{813B0112-A30D-455B-AB8A-05AB5E2DA6D8}"/>
    <dgm:cxn modelId="{E8140455-386C-4991-935B-8182EDB91421}" type="presOf" srcId="{8D1C88C3-992D-4BFA-A836-93EB58985509}" destId="{AFC46D88-7595-4C33-BC56-F49550DC7D6A}" srcOrd="0" destOrd="0" presId="urn:microsoft.com/office/officeart/2005/8/layout/process1"/>
    <dgm:cxn modelId="{79A37B8C-BB2A-40E3-BA3D-D5614D102E2D}" srcId="{51867280-F16D-4E1C-8D79-CAECD3A87DE8}" destId="{8D1C88C3-992D-4BFA-A836-93EB58985509}" srcOrd="3" destOrd="0" parTransId="{D906FBAB-874D-468F-890A-B5E6DBC15834}" sibTransId="{1919FDDA-FEC5-4A69-9BCB-C8055C1A5ECA}"/>
    <dgm:cxn modelId="{AA932894-D023-409F-A277-13CA50FB8D9F}" type="presOf" srcId="{0728092E-EB31-4A5B-88DA-423B78D3E490}" destId="{C76F2B78-3037-4B85-BCD5-AA854B6BA0AE}" srcOrd="0" destOrd="0" presId="urn:microsoft.com/office/officeart/2005/8/layout/process1"/>
    <dgm:cxn modelId="{0F5525AF-DB7B-4C09-BCC3-1DBAB36B8EC1}" srcId="{51867280-F16D-4E1C-8D79-CAECD3A87DE8}" destId="{B74F7431-6FDC-4C3A-B4A8-B6BA499C56FE}" srcOrd="2" destOrd="0" parTransId="{5CBB2831-2BD7-4186-A748-04FA82392952}" sibTransId="{0728092E-EB31-4A5B-88DA-423B78D3E490}"/>
    <dgm:cxn modelId="{496B6FB0-DDD2-494C-A227-E25ADB9A2AB0}" type="presOf" srcId="{813B0112-A30D-455B-AB8A-05AB5E2DA6D8}" destId="{783FA656-DB31-47CE-8F3D-40FCA80FE8CA}" srcOrd="0" destOrd="0" presId="urn:microsoft.com/office/officeart/2005/8/layout/process1"/>
    <dgm:cxn modelId="{55568DB4-6FD9-4EB8-A94E-94D189CE4572}" type="presOf" srcId="{55BFA832-102D-4A34-8DE3-87963511F09A}" destId="{60946F5A-1D80-437D-B216-45C88E467599}" srcOrd="0" destOrd="0" presId="urn:microsoft.com/office/officeart/2005/8/layout/process1"/>
    <dgm:cxn modelId="{70AAB6C0-2C1F-48E9-87DB-D98A478E9426}" type="presOf" srcId="{51867280-F16D-4E1C-8D79-CAECD3A87DE8}" destId="{9035DCBA-91B9-4778-B614-A7B82B4D585C}" srcOrd="0" destOrd="0" presId="urn:microsoft.com/office/officeart/2005/8/layout/process1"/>
    <dgm:cxn modelId="{950C19C1-B00E-41BC-9596-A87C2AF879CB}" type="presOf" srcId="{129AF019-F9D5-48CD-AAA7-BC26591FC785}" destId="{6B7B835B-B328-4EAC-922E-A94FC724975B}" srcOrd="0" destOrd="0" presId="urn:microsoft.com/office/officeart/2005/8/layout/process1"/>
    <dgm:cxn modelId="{11B213CE-F75E-4320-AB0D-1521589BCC6C}" type="presOf" srcId="{0728092E-EB31-4A5B-88DA-423B78D3E490}" destId="{836DF8FD-EBDB-4E08-90CF-92F41E0249E5}" srcOrd="1" destOrd="0" presId="urn:microsoft.com/office/officeart/2005/8/layout/process1"/>
    <dgm:cxn modelId="{1A99A8DA-C18B-4D46-BD0E-DDD9BE2B1AE8}" type="presOf" srcId="{B74F7431-6FDC-4C3A-B4A8-B6BA499C56FE}" destId="{A74B1D16-C469-41A1-AF95-10E54040FBC9}" srcOrd="0" destOrd="0" presId="urn:microsoft.com/office/officeart/2005/8/layout/process1"/>
    <dgm:cxn modelId="{3F1C5EF2-436D-4E96-AEB8-DB9F24B6E231}" type="presOf" srcId="{129AF019-F9D5-48CD-AAA7-BC26591FC785}" destId="{8E4D39EA-9505-48F1-A643-F1673F7E594C}" srcOrd="1" destOrd="0" presId="urn:microsoft.com/office/officeart/2005/8/layout/process1"/>
    <dgm:cxn modelId="{DC5DCFFF-07D4-4BB1-A9ED-9201FD902C44}" type="presOf" srcId="{9B26B6BA-EC09-470A-B8DC-BF7EAEFE1213}" destId="{5CEB7452-85E7-4A08-ACCF-51E2B330CC8E}" srcOrd="0" destOrd="0" presId="urn:microsoft.com/office/officeart/2005/8/layout/process1"/>
    <dgm:cxn modelId="{1A661E6E-CDB2-4B96-9F69-EE206526EE77}" type="presParOf" srcId="{9035DCBA-91B9-4778-B614-A7B82B4D585C}" destId="{5CEB7452-85E7-4A08-ACCF-51E2B330CC8E}" srcOrd="0" destOrd="0" presId="urn:microsoft.com/office/officeart/2005/8/layout/process1"/>
    <dgm:cxn modelId="{C6A51B5B-B092-40BD-ACD5-C6F62FB62EFE}" type="presParOf" srcId="{9035DCBA-91B9-4778-B614-A7B82B4D585C}" destId="{783FA656-DB31-47CE-8F3D-40FCA80FE8CA}" srcOrd="1" destOrd="0" presId="urn:microsoft.com/office/officeart/2005/8/layout/process1"/>
    <dgm:cxn modelId="{74FAC0BF-E964-48E1-A92D-AB5B4D09B920}" type="presParOf" srcId="{783FA656-DB31-47CE-8F3D-40FCA80FE8CA}" destId="{6ED61706-C42A-471F-8A92-75EF29F94056}" srcOrd="0" destOrd="0" presId="urn:microsoft.com/office/officeart/2005/8/layout/process1"/>
    <dgm:cxn modelId="{03A55058-415A-417D-957A-CC51C96C97AF}" type="presParOf" srcId="{9035DCBA-91B9-4778-B614-A7B82B4D585C}" destId="{60946F5A-1D80-437D-B216-45C88E467599}" srcOrd="2" destOrd="0" presId="urn:microsoft.com/office/officeart/2005/8/layout/process1"/>
    <dgm:cxn modelId="{75D58DFF-098A-4CDB-950C-54B6198587FC}" type="presParOf" srcId="{9035DCBA-91B9-4778-B614-A7B82B4D585C}" destId="{6B7B835B-B328-4EAC-922E-A94FC724975B}" srcOrd="3" destOrd="0" presId="urn:microsoft.com/office/officeart/2005/8/layout/process1"/>
    <dgm:cxn modelId="{3977CE0B-689F-492F-8F7C-F063B753A19D}" type="presParOf" srcId="{6B7B835B-B328-4EAC-922E-A94FC724975B}" destId="{8E4D39EA-9505-48F1-A643-F1673F7E594C}" srcOrd="0" destOrd="0" presId="urn:microsoft.com/office/officeart/2005/8/layout/process1"/>
    <dgm:cxn modelId="{B28288CC-7ECB-4750-B453-DEB9AEED0AF2}" type="presParOf" srcId="{9035DCBA-91B9-4778-B614-A7B82B4D585C}" destId="{A74B1D16-C469-41A1-AF95-10E54040FBC9}" srcOrd="4" destOrd="0" presId="urn:microsoft.com/office/officeart/2005/8/layout/process1"/>
    <dgm:cxn modelId="{E1C9E5EF-E4B9-4277-B2C9-EBC2A0A5C0D1}" type="presParOf" srcId="{9035DCBA-91B9-4778-B614-A7B82B4D585C}" destId="{C76F2B78-3037-4B85-BCD5-AA854B6BA0AE}" srcOrd="5" destOrd="0" presId="urn:microsoft.com/office/officeart/2005/8/layout/process1"/>
    <dgm:cxn modelId="{2A98372A-C28B-41D9-B2E3-8364A68E8D08}" type="presParOf" srcId="{C76F2B78-3037-4B85-BCD5-AA854B6BA0AE}" destId="{836DF8FD-EBDB-4E08-90CF-92F41E0249E5}" srcOrd="0" destOrd="0" presId="urn:microsoft.com/office/officeart/2005/8/layout/process1"/>
    <dgm:cxn modelId="{4284F064-D822-43E9-8174-FCE89D0FA542}" type="presParOf" srcId="{9035DCBA-91B9-4778-B614-A7B82B4D585C}" destId="{AFC46D88-7595-4C33-BC56-F49550DC7D6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B7452-85E7-4A08-ACCF-51E2B330CC8E}">
      <dsp:nvSpPr>
        <dsp:cNvPr id="0" name=""/>
        <dsp:cNvSpPr/>
      </dsp:nvSpPr>
      <dsp:spPr>
        <a:xfrm>
          <a:off x="4427" y="1451059"/>
          <a:ext cx="1935793" cy="11614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i="1" kern="1200"/>
            <a:t>VHDL</a:t>
          </a:r>
          <a:endParaRPr lang="pt-BR" sz="2000" kern="1200"/>
        </a:p>
      </dsp:txBody>
      <dsp:txXfrm>
        <a:off x="38445" y="1485077"/>
        <a:ext cx="1867757" cy="1093440"/>
      </dsp:txXfrm>
    </dsp:sp>
    <dsp:sp modelId="{783FA656-DB31-47CE-8F3D-40FCA80FE8CA}">
      <dsp:nvSpPr>
        <dsp:cNvPr id="0" name=""/>
        <dsp:cNvSpPr/>
      </dsp:nvSpPr>
      <dsp:spPr>
        <a:xfrm>
          <a:off x="2133800" y="1791759"/>
          <a:ext cx="410388" cy="4800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2133800" y="1887774"/>
        <a:ext cx="287272" cy="288046"/>
      </dsp:txXfrm>
    </dsp:sp>
    <dsp:sp modelId="{60946F5A-1D80-437D-B216-45C88E467599}">
      <dsp:nvSpPr>
        <dsp:cNvPr id="0" name=""/>
        <dsp:cNvSpPr/>
      </dsp:nvSpPr>
      <dsp:spPr>
        <a:xfrm>
          <a:off x="2714538" y="1451059"/>
          <a:ext cx="1935793" cy="11614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i="1" kern="1200"/>
            <a:t>Tradução intermediária (Verilog)</a:t>
          </a:r>
          <a:endParaRPr lang="pt-BR" sz="2000" kern="1200"/>
        </a:p>
      </dsp:txBody>
      <dsp:txXfrm>
        <a:off x="2748556" y="1485077"/>
        <a:ext cx="1867757" cy="1093440"/>
      </dsp:txXfrm>
    </dsp:sp>
    <dsp:sp modelId="{6B7B835B-B328-4EAC-922E-A94FC724975B}">
      <dsp:nvSpPr>
        <dsp:cNvPr id="0" name=""/>
        <dsp:cNvSpPr/>
      </dsp:nvSpPr>
      <dsp:spPr>
        <a:xfrm>
          <a:off x="4843912" y="1791759"/>
          <a:ext cx="410388" cy="4800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4843912" y="1887774"/>
        <a:ext cx="287272" cy="288046"/>
      </dsp:txXfrm>
    </dsp:sp>
    <dsp:sp modelId="{A74B1D16-C469-41A1-AF95-10E54040FBC9}">
      <dsp:nvSpPr>
        <dsp:cNvPr id="0" name=""/>
        <dsp:cNvSpPr/>
      </dsp:nvSpPr>
      <dsp:spPr>
        <a:xfrm>
          <a:off x="5424650" y="1451059"/>
          <a:ext cx="1935793" cy="11614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i="1" kern="1200"/>
            <a:t>Código C</a:t>
          </a:r>
          <a:endParaRPr lang="pt-BR" sz="2000" kern="1200"/>
        </a:p>
      </dsp:txBody>
      <dsp:txXfrm>
        <a:off x="5458668" y="1485077"/>
        <a:ext cx="1867757" cy="1093440"/>
      </dsp:txXfrm>
    </dsp:sp>
    <dsp:sp modelId="{C76F2B78-3037-4B85-BCD5-AA854B6BA0AE}">
      <dsp:nvSpPr>
        <dsp:cNvPr id="0" name=""/>
        <dsp:cNvSpPr/>
      </dsp:nvSpPr>
      <dsp:spPr>
        <a:xfrm>
          <a:off x="7554023" y="1791759"/>
          <a:ext cx="410388" cy="4800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7554023" y="1887774"/>
        <a:ext cx="287272" cy="288046"/>
      </dsp:txXfrm>
    </dsp:sp>
    <dsp:sp modelId="{AFC46D88-7595-4C33-BC56-F49550DC7D6A}">
      <dsp:nvSpPr>
        <dsp:cNvPr id="0" name=""/>
        <dsp:cNvSpPr/>
      </dsp:nvSpPr>
      <dsp:spPr>
        <a:xfrm>
          <a:off x="8134761" y="1451059"/>
          <a:ext cx="1935793" cy="11614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i="1" kern="1200"/>
            <a:t>ESBMC</a:t>
          </a:r>
          <a:endParaRPr lang="pt-BR" sz="2000" kern="1200"/>
        </a:p>
      </dsp:txBody>
      <dsp:txXfrm>
        <a:off x="8168779" y="1485077"/>
        <a:ext cx="1867757" cy="1093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414677A-8767-4473-BA9A-8D8C2A067E29}" type="datetime1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668C69-0C3E-40A2-B4A0-B2C8B71D8E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E33BF-9E27-4B38-BB64-B69448889533}" type="datetime1">
              <a:rPr lang="pt-BR" smtClean="0"/>
              <a:pPr/>
              <a:t>14/01/2026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000EEB-8338-48D7-8EE8-EE0082EF760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E000EEB-8338-48D7-8EE8-EE0082EF7602}" type="slidenum">
              <a:rPr lang="pt-BR" noProof="0" smtClean="0"/>
              <a:t>11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57051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4D1C20-A403-4D06-A1F5-685F60064320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158688-60C7-46DD-A3E8-C4FD91044CE2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AFFF5C-0C83-4385-901A-0A49F8BE947C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4D26CA-6B89-4C7C-A55F-3A98C8816567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C343D9-5EB0-44D9-824B-54914B08994C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E57FE7-8AAF-4770-9360-16BFA3691FEB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AEFE3-BD93-4DB2-B4F7-80356D34E3FF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FE50BF-214E-4799-90D8-518AFF916C02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F73E56-3131-4DBF-AF9E-F2126AB4D183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6A7B8-0E82-46DB-99E2-76E935C0F649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BBC7E5-68F9-4FB6-B8AB-3789096BC184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Espaço Reservado para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7F3D97-8547-4F06-B0C8-5E4ED4D5042B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Caixa de texto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"</a:t>
            </a:r>
          </a:p>
        </p:txBody>
      </p:sp>
      <p:sp>
        <p:nvSpPr>
          <p:cNvPr id="13" name="Caixa de texto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"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DBD00-3DAA-4FC5-9D01-9C5FCB1FFB87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6" name="Espaço Reservado para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9" name="Espaço Reservado para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4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0" name="Espaço Reservado para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7" name="Conector Reto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EC0531-4E8F-4B9A-8653-9CEB23C39EBA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9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2" name="Espaço Reservado para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0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3" name="Espaço Reservado para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4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1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7" name="Conector Reto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E9F473-2487-4E32-9A6F-AC19DDFD1456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5FA9DC-BEC9-4440-8EB9-0866C7200AD9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606097-4901-43CD-9FC9-F9FCED044F00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5B6122B1-F9DD-41A2-BF2F-E08F431629DD}" type="datetime1">
              <a:rPr lang="pt-BR" noProof="0" smtClean="0"/>
              <a:t>14/01/2026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100" y="1124565"/>
            <a:ext cx="8825658" cy="332958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Arquitetura e organização de computadores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99" y="4454145"/>
            <a:ext cx="9968965" cy="1459957"/>
          </a:xfrm>
        </p:spPr>
        <p:txBody>
          <a:bodyPr rtlCol="0">
            <a:normAutofit fontScale="70000" lnSpcReduction="20000"/>
          </a:bodyPr>
          <a:lstStyle/>
          <a:p>
            <a:pPr rtl="0"/>
            <a:r>
              <a:rPr lang="pt-BR" sz="10100" dirty="0"/>
              <a:t>TASK 04</a:t>
            </a:r>
          </a:p>
          <a:p>
            <a:pPr rtl="0"/>
            <a:r>
              <a:rPr lang="pt-BR" sz="2400" dirty="0"/>
              <a:t>João Paulo gentil </a:t>
            </a:r>
            <a:r>
              <a:rPr lang="pt-BR" sz="2400" dirty="0" err="1"/>
              <a:t>ferreira</a:t>
            </a:r>
            <a:r>
              <a:rPr lang="pt-BR" sz="2400" dirty="0"/>
              <a:t>, Gabriel Guilherme figueiredo, Gabriel </a:t>
            </a:r>
            <a:r>
              <a:rPr lang="pt-BR" sz="2400" dirty="0" err="1"/>
              <a:t>felipe</a:t>
            </a:r>
            <a:r>
              <a:rPr lang="pt-BR" sz="2400" dirty="0"/>
              <a:t> melo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138132-3D16-B6C8-996D-80FA9D0E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09620-5756-18A5-BFE4-F1E213C0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geral da atividade: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0FF616-E48B-50D6-0102-B979A5E14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39680"/>
            <a:ext cx="9884236" cy="4195481"/>
          </a:xfrm>
        </p:spPr>
        <p:txBody>
          <a:bodyPr/>
          <a:lstStyle/>
          <a:p>
            <a:pPr algn="just"/>
            <a:r>
              <a:rPr lang="pt-BR" sz="2400" dirty="0"/>
              <a:t>Analisar e estender um pipeline de tradução e verificação, partindo de descrições em VHDL até as verificações formais de propriedades de segurança;</a:t>
            </a:r>
          </a:p>
          <a:p>
            <a:pPr algn="just"/>
            <a:r>
              <a:rPr lang="pt-BR" sz="2400" dirty="0"/>
              <a:t>O trabalho se baseia no artigo </a:t>
            </a:r>
            <a:r>
              <a:rPr lang="pt-BR" sz="2400" i="1" dirty="0"/>
              <a:t>Open Technologies in Formal </a:t>
            </a:r>
            <a:r>
              <a:rPr lang="pt-BR" sz="2400" i="1" dirty="0" err="1"/>
              <a:t>Verification</a:t>
            </a:r>
            <a:r>
              <a:rPr lang="pt-BR" sz="2400" i="1" dirty="0"/>
              <a:t>: </a:t>
            </a:r>
            <a:r>
              <a:rPr lang="pt-BR" sz="2400" i="1" dirty="0" err="1"/>
              <a:t>Transforming</a:t>
            </a:r>
            <a:r>
              <a:rPr lang="pt-BR" sz="2400" i="1" dirty="0"/>
              <a:t> </a:t>
            </a:r>
            <a:r>
              <a:rPr lang="pt-BR" sz="2400" i="1" dirty="0" err="1"/>
              <a:t>Code</a:t>
            </a:r>
            <a:r>
              <a:rPr lang="pt-BR" sz="2400" i="1" dirty="0"/>
              <a:t> for Circuit </a:t>
            </a:r>
            <a:r>
              <a:rPr lang="pt-BR" sz="2400" i="1" dirty="0" err="1"/>
              <a:t>Validation</a:t>
            </a:r>
            <a:r>
              <a:rPr lang="pt-BR" sz="2400" i="1" dirty="0"/>
              <a:t> que propôs o pipeline a seguir:</a:t>
            </a:r>
          </a:p>
          <a:p>
            <a:pPr algn="just"/>
            <a:endParaRPr lang="pt-BR" sz="2400" i="1" dirty="0"/>
          </a:p>
          <a:p>
            <a:pPr marL="0" indent="0">
              <a:buNone/>
            </a:pPr>
            <a:endParaRPr lang="pt-BR" b="1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ADF22A-403E-FA2C-3D97-68C68702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2</a:t>
            </a:fld>
            <a:endParaRPr lang="pt-BR" noProof="0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E377E52-43B1-0FA9-6791-93D7BADD25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2742660"/>
              </p:ext>
            </p:extLst>
          </p:nvPr>
        </p:nvGraphicFramePr>
        <p:xfrm>
          <a:off x="696656" y="3305680"/>
          <a:ext cx="10074983" cy="4063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85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F71F7-7838-814D-DEA1-9E7F37C4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95729"/>
            <a:ext cx="9404723" cy="1400530"/>
          </a:xfrm>
        </p:spPr>
        <p:txBody>
          <a:bodyPr/>
          <a:lstStyle/>
          <a:p>
            <a:r>
              <a:rPr lang="pt-BR" dirty="0"/>
              <a:t>Objetivos específicos: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DE2139-0C34-5301-8F62-9B2E5E15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3</a:t>
            </a:fld>
            <a:endParaRPr lang="pt-BR" noProof="0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721CCB4-42D5-0628-B48B-0E8C2501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63416"/>
            <a:ext cx="11468100" cy="579458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1. Identificar limites do pipeline com exemplos que usem </a:t>
            </a:r>
            <a:r>
              <a:rPr lang="pt-BR" dirty="0" err="1"/>
              <a:t>downto</a:t>
            </a:r>
            <a:r>
              <a:rPr lang="pt-BR" dirty="0"/>
              <a:t>, </a:t>
            </a:r>
            <a:r>
              <a:rPr lang="pt-BR" dirty="0" err="1"/>
              <a:t>integer</a:t>
            </a:r>
            <a:r>
              <a:rPr lang="pt-BR" dirty="0"/>
              <a:t>, </a:t>
            </a:r>
            <a:r>
              <a:rPr lang="pt-BR" dirty="0" err="1"/>
              <a:t>arrays</a:t>
            </a:r>
            <a:r>
              <a:rPr lang="pt-BR" dirty="0"/>
              <a:t> e processos sensíveis a </a:t>
            </a:r>
            <a:r>
              <a:rPr lang="pt-BR" dirty="0" err="1"/>
              <a:t>clock</a:t>
            </a:r>
            <a:r>
              <a:rPr lang="pt-BR" dirty="0"/>
              <a:t>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2. Estender o pipeline com um passo auxiliar: usar </a:t>
            </a:r>
            <a:r>
              <a:rPr lang="pt-BR" dirty="0" err="1"/>
              <a:t>ferramantes</a:t>
            </a:r>
            <a:r>
              <a:rPr lang="pt-BR" dirty="0"/>
              <a:t> como </a:t>
            </a:r>
            <a:r>
              <a:rPr lang="pt-BR" dirty="0" err="1"/>
              <a:t>Yosys</a:t>
            </a:r>
            <a:r>
              <a:rPr lang="pt-BR" dirty="0"/>
              <a:t> (para </a:t>
            </a:r>
            <a:r>
              <a:rPr lang="pt-BR" dirty="0" err="1"/>
              <a:t>Verilog</a:t>
            </a:r>
            <a:r>
              <a:rPr lang="pt-BR" dirty="0"/>
              <a:t> </a:t>
            </a:r>
            <a:r>
              <a:rPr lang="pt-BR" dirty="0" err="1"/>
              <a:t>elaboration</a:t>
            </a:r>
            <a:r>
              <a:rPr lang="pt-BR" dirty="0"/>
              <a:t> / </a:t>
            </a:r>
            <a:r>
              <a:rPr lang="pt-BR" dirty="0" err="1"/>
              <a:t>assertions</a:t>
            </a:r>
            <a:r>
              <a:rPr lang="pt-BR" dirty="0"/>
              <a:t> </a:t>
            </a:r>
            <a:r>
              <a:rPr lang="pt-BR" dirty="0" err="1"/>
              <a:t>synthesis</a:t>
            </a:r>
            <a:r>
              <a:rPr lang="pt-BR" dirty="0"/>
              <a:t>) ou scripts de pré-processamento para aumentar compatibilidade.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3. Integrar o </a:t>
            </a:r>
            <a:r>
              <a:rPr lang="pt-BR" dirty="0" err="1"/>
              <a:t>SymbiYosys</a:t>
            </a:r>
            <a:r>
              <a:rPr lang="pt-BR" dirty="0"/>
              <a:t> como passo adicional de verificação para complementar ESBMC (trabalhar dualmente com BMC e SAT/SMT).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4. Entregar um script de automação (Python) que: detecta arquivos VHDL, gera arquivo auxiliar (inputs/outputs/</a:t>
            </a:r>
            <a:r>
              <a:rPr lang="pt-BR" dirty="0" err="1"/>
              <a:t>pre-post</a:t>
            </a:r>
            <a:r>
              <a:rPr lang="pt-BR" dirty="0"/>
              <a:t>), executa tradutores, injeta </a:t>
            </a:r>
            <a:r>
              <a:rPr lang="pt-BR" dirty="0" err="1"/>
              <a:t>assertions</a:t>
            </a:r>
            <a:r>
              <a:rPr lang="pt-BR" dirty="0"/>
              <a:t> (</a:t>
            </a:r>
            <a:r>
              <a:rPr lang="pt-BR" dirty="0" err="1"/>
              <a:t>tags</a:t>
            </a:r>
            <a:r>
              <a:rPr lang="pt-BR" dirty="0"/>
              <a:t> @c2vhdl:ASSERT), instrumenta C gerado, chama ESBMC e coleta resultados.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5. Criar um Front-</a:t>
            </a:r>
            <a:r>
              <a:rPr lang="pt-BR" dirty="0" err="1"/>
              <a:t>end</a:t>
            </a:r>
            <a:r>
              <a:rPr lang="pt-BR" dirty="0"/>
              <a:t> unificador com AST comum — construir um </a:t>
            </a:r>
            <a:r>
              <a:rPr lang="pt-BR" dirty="0" err="1"/>
              <a:t>frontend</a:t>
            </a:r>
            <a:r>
              <a:rPr lang="pt-BR" dirty="0"/>
              <a:t> que </a:t>
            </a:r>
            <a:r>
              <a:rPr lang="pt-BR" dirty="0" err="1"/>
              <a:t>parseie</a:t>
            </a:r>
            <a:r>
              <a:rPr lang="pt-BR" dirty="0"/>
              <a:t> VHDL em AST (ex.: usando </a:t>
            </a:r>
            <a:r>
              <a:rPr lang="pt-BR" dirty="0" err="1"/>
              <a:t>ghdl</a:t>
            </a:r>
            <a:r>
              <a:rPr lang="pt-BR" dirty="0"/>
              <a:t> + </a:t>
            </a:r>
            <a:r>
              <a:rPr lang="pt-BR" dirty="0" err="1"/>
              <a:t>export</a:t>
            </a:r>
            <a:r>
              <a:rPr lang="pt-BR" dirty="0"/>
              <a:t> AST) e gere </a:t>
            </a:r>
            <a:r>
              <a:rPr lang="pt-BR" dirty="0" err="1"/>
              <a:t>Verilog</a:t>
            </a:r>
            <a:r>
              <a:rPr lang="pt-BR" dirty="0"/>
              <a:t>/C com regras consistentes, reduzindo erros introduzidos por múltiplas ferramentas. </a:t>
            </a:r>
          </a:p>
        </p:txBody>
      </p:sp>
    </p:spTree>
    <p:extLst>
      <p:ext uri="{BB962C8B-B14F-4D97-AF65-F5344CB8AC3E}">
        <p14:creationId xmlns:p14="http://schemas.microsoft.com/office/powerpoint/2010/main" val="129667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F47F7-9264-35AA-D6B5-3AEB0A403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pt-BR" dirty="0"/>
              <a:t>Objetivo 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3C46CB-C8FD-BBE0-AC36-D77ADB2E2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1600"/>
            <a:ext cx="8946541" cy="48768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Identificar limites do pipeline com exemplos que usem </a:t>
            </a:r>
            <a:r>
              <a:rPr lang="pt-BR" sz="2400" dirty="0" err="1"/>
              <a:t>downto</a:t>
            </a:r>
            <a:r>
              <a:rPr lang="pt-BR" sz="2400" dirty="0"/>
              <a:t>, </a:t>
            </a:r>
            <a:r>
              <a:rPr lang="pt-BR" sz="2400" dirty="0" err="1"/>
              <a:t>integer</a:t>
            </a:r>
            <a:r>
              <a:rPr lang="pt-BR" sz="2400" dirty="0"/>
              <a:t>, </a:t>
            </a:r>
            <a:r>
              <a:rPr lang="pt-BR" sz="2400" dirty="0" err="1"/>
              <a:t>arrays</a:t>
            </a:r>
            <a:r>
              <a:rPr lang="pt-BR" sz="2400" dirty="0"/>
              <a:t> e processos sensíveis a </a:t>
            </a:r>
            <a:r>
              <a:rPr lang="pt-BR" sz="2400" dirty="0" err="1"/>
              <a:t>clock</a:t>
            </a:r>
            <a:r>
              <a:rPr lang="pt-BR" sz="2400" dirty="0"/>
              <a:t>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</a:t>
            </a:r>
            <a:r>
              <a:rPr lang="pt-BR" sz="2400" b="1" dirty="0"/>
              <a:t>GHDL</a:t>
            </a:r>
            <a:r>
              <a:rPr lang="pt-BR" sz="2400" dirty="0"/>
              <a:t> foi utilizado para a tradução do VHDL para </a:t>
            </a:r>
            <a:r>
              <a:rPr lang="pt-BR" sz="2400" dirty="0" err="1"/>
              <a:t>Verilog</a:t>
            </a:r>
            <a:r>
              <a:rPr lang="pt-BR" sz="2400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</a:t>
            </a:r>
            <a:r>
              <a:rPr lang="pt-BR" sz="2400" b="1" dirty="0" err="1"/>
              <a:t>Yosys</a:t>
            </a:r>
            <a:r>
              <a:rPr lang="pt-BR" sz="2400" dirty="0"/>
              <a:t> foi utilizado como ferramenta central de normalização do </a:t>
            </a:r>
            <a:r>
              <a:rPr lang="pt-BR" sz="2400" dirty="0" err="1"/>
              <a:t>Verilog</a:t>
            </a:r>
            <a:r>
              <a:rPr lang="pt-BR" sz="2400" dirty="0"/>
              <a:t> gerado:</a:t>
            </a:r>
          </a:p>
          <a:p>
            <a:pPr marL="0" indent="0" algn="just">
              <a:buNone/>
            </a:pPr>
            <a:r>
              <a:rPr lang="pt-BR" sz="2400" dirty="0"/>
              <a:t>	O </a:t>
            </a:r>
            <a:r>
              <a:rPr lang="pt-BR" sz="2400" dirty="0" err="1"/>
              <a:t>Verilog</a:t>
            </a:r>
            <a:r>
              <a:rPr lang="pt-BR" sz="2400" dirty="0"/>
              <a:t> gerado é mais adequado para:</a:t>
            </a:r>
          </a:p>
          <a:p>
            <a:pPr lvl="2"/>
            <a:r>
              <a:rPr lang="pt-BR" sz="2400" dirty="0"/>
              <a:t>Tradução posterior para C</a:t>
            </a:r>
          </a:p>
          <a:p>
            <a:pPr lvl="2"/>
            <a:r>
              <a:rPr lang="pt-BR" sz="2400" dirty="0"/>
              <a:t>Inserção de instrumentação de verificação</a:t>
            </a:r>
          </a:p>
          <a:p>
            <a:pPr algn="just"/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CABF24-ECCA-1BEB-89AD-594A3ED9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5178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97BC-EBD8-11F6-A327-0915B497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0913D-8C34-B603-5041-951618E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pt-BR" dirty="0"/>
              <a:t>Objetivo 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E2B4CF-4500-C8E1-211D-A6D1A7248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1600"/>
            <a:ext cx="8946541" cy="4876800"/>
          </a:xfrm>
        </p:spPr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sz="2400" dirty="0"/>
              <a:t>Foram criados 5 arquivos .</a:t>
            </a:r>
            <a:r>
              <a:rPr lang="pt-BR" sz="2400" dirty="0" err="1"/>
              <a:t>vhd</a:t>
            </a:r>
            <a:r>
              <a:rPr lang="pt-BR" sz="2400" dirty="0"/>
              <a:t> de design e seus respectivos </a:t>
            </a:r>
            <a:r>
              <a:rPr lang="pt-BR" sz="2400" dirty="0" err="1"/>
              <a:t>testbenches</a:t>
            </a:r>
            <a:r>
              <a:rPr lang="pt-BR" sz="2400" dirty="0"/>
              <a:t> como exemplos:</a:t>
            </a:r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93D844-8093-ACDB-4290-E004188C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5</a:t>
            </a:fld>
            <a:endParaRPr lang="pt-BR" noProof="0"/>
          </a:p>
        </p:txBody>
      </p:sp>
      <p:pic>
        <p:nvPicPr>
          <p:cNvPr id="8" name="Imagem 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1FBD1ED-B3D5-5146-6949-A61F2D36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113314"/>
            <a:ext cx="4734065" cy="2133664"/>
          </a:xfrm>
          <a:prstGeom prst="rect">
            <a:avLst/>
          </a:prstGeom>
        </p:spPr>
      </p:pic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F4F3CDBA-CEAD-D121-6235-8A627726D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530" y="3113314"/>
            <a:ext cx="4497535" cy="21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9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E3C0-545E-5A89-FE49-6B875D83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BB14C-5A0E-C19E-51A4-CF5B8C3F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pt-BR" dirty="0"/>
              <a:t>Objetivo 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5BE28-B27F-0C11-0B8B-BCDB7CFF9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1600"/>
            <a:ext cx="8946541" cy="487680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O código VHDL foi considerado correto se compilava no GHDL, seguia o nível RTL e isolava uma única construção por experimento.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</a:t>
            </a:r>
            <a:r>
              <a:rPr lang="pt-BR" sz="2400" dirty="0" err="1"/>
              <a:t>testbench</a:t>
            </a:r>
            <a:r>
              <a:rPr lang="pt-BR" sz="2400" dirty="0"/>
              <a:t> foi considerado útil se exercitava o comportamento do circuito, permitia observação dos sinais e validava o funcionamento básico antes da tradução, garantindo que erros posteriores fossem atribuídos às ferramentas do pipeline.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858200-ACF1-C07E-3102-31F0BBF2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106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118DF-BBE6-8AE3-FCBA-AC5D047F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705897-834A-BB01-2BAC-07B50E85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7886"/>
            <a:ext cx="8946541" cy="4840513"/>
          </a:xfrm>
        </p:spPr>
        <p:txBody>
          <a:bodyPr>
            <a:normAutofit/>
          </a:bodyPr>
          <a:lstStyle/>
          <a:p>
            <a:r>
              <a:rPr lang="pt-BR" sz="2400" dirty="0"/>
              <a:t>O principal obstáculo encontrado no desenvolvimento do projeto da maneira como foi feito foi o a utilização de </a:t>
            </a:r>
            <a:r>
              <a:rPr lang="pt-BR" sz="2400" dirty="0" err="1"/>
              <a:t>tags</a:t>
            </a:r>
            <a:r>
              <a:rPr lang="pt-BR" sz="2400" dirty="0"/>
              <a:t> como </a:t>
            </a:r>
            <a:r>
              <a:rPr lang="pt-BR" sz="2400" b="1" i="1" dirty="0"/>
              <a:t>@c2vhdl:ASSERT.</a:t>
            </a:r>
          </a:p>
          <a:p>
            <a:r>
              <a:rPr lang="pt-BR" sz="2400" dirty="0"/>
              <a:t>Como o GHDL não preserva comentários, então as </a:t>
            </a:r>
            <a:r>
              <a:rPr lang="pt-BR" sz="2400" dirty="0" err="1"/>
              <a:t>tags</a:t>
            </a:r>
            <a:r>
              <a:rPr lang="pt-BR" sz="2400" dirty="0"/>
              <a:t> se perdem  na etapa VHDL -&gt; </a:t>
            </a:r>
            <a:r>
              <a:rPr lang="pt-BR" sz="2400" dirty="0" err="1"/>
              <a:t>Verilog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Logo, as estratégias baseadas em comentários não são viáveis no fluxo de desenvolvimento com o GHDL.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F4E95C-FD8F-6744-C29B-E9977F09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6825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4614-6DE2-05B9-0E1B-2FB94759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7B867-B83B-5FE7-5D28-1F4CAA7B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1: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EEF8C1-37F7-6E03-8262-EC207E48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7886"/>
            <a:ext cx="8946541" cy="4840513"/>
          </a:xfrm>
        </p:spPr>
        <p:txBody>
          <a:bodyPr>
            <a:normAutofit/>
          </a:bodyPr>
          <a:lstStyle/>
          <a:p>
            <a:r>
              <a:rPr lang="pt-BR" sz="2400" dirty="0"/>
              <a:t>Logo, as estratégias baseadas em comentários não são viáveis no fluxo de desenvolvimento com o GHDL. </a:t>
            </a:r>
          </a:p>
          <a:p>
            <a:r>
              <a:rPr lang="pt-BR" sz="2400" dirty="0"/>
              <a:t>Diante da limitação, alternativas foram analisadas:</a:t>
            </a:r>
          </a:p>
          <a:p>
            <a:pPr lvl="1"/>
            <a:r>
              <a:rPr lang="pt-BR" sz="2200" dirty="0"/>
              <a:t>Seria necessário inserir </a:t>
            </a:r>
            <a:r>
              <a:rPr lang="pt-BR" sz="2200" dirty="0" err="1"/>
              <a:t>Assertions</a:t>
            </a:r>
            <a:r>
              <a:rPr lang="pt-BR" sz="2200" dirty="0"/>
              <a:t> no </a:t>
            </a:r>
            <a:r>
              <a:rPr lang="pt-BR" sz="2200" dirty="0" err="1"/>
              <a:t>Verilog</a:t>
            </a:r>
            <a:r>
              <a:rPr lang="pt-BR" sz="2200" dirty="0"/>
              <a:t> já normalizado pelo </a:t>
            </a:r>
            <a:r>
              <a:rPr lang="pt-BR" sz="2200" dirty="0" err="1"/>
              <a:t>Yosys</a:t>
            </a:r>
            <a:r>
              <a:rPr lang="pt-BR" sz="2200" dirty="0"/>
              <a:t> ou diretamente no código C.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44DE24-551D-AAAA-8129-0FDE286C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1722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39C2B-2B73-82A2-22C0-550CAE4F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pt-BR" dirty="0"/>
              <a:t>Objetivo 2: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591AAD-4270-D5E7-9CFA-F9EDF1A8C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24000"/>
            <a:ext cx="8946541" cy="4724399"/>
          </a:xfrm>
        </p:spPr>
        <p:txBody>
          <a:bodyPr/>
          <a:lstStyle/>
          <a:p>
            <a:pPr algn="just"/>
            <a:r>
              <a:rPr lang="pt-BR" sz="2400" dirty="0"/>
              <a:t>Estender o pipeline com um passo auxiliar: </a:t>
            </a:r>
          </a:p>
          <a:p>
            <a:pPr lvl="1" algn="just"/>
            <a:r>
              <a:rPr lang="pt-BR" sz="2400" dirty="0"/>
              <a:t>usar </a:t>
            </a:r>
            <a:r>
              <a:rPr lang="pt-BR" sz="2400" dirty="0" err="1"/>
              <a:t>ferramantes</a:t>
            </a:r>
            <a:r>
              <a:rPr lang="pt-BR" sz="2400" dirty="0"/>
              <a:t> como </a:t>
            </a:r>
            <a:r>
              <a:rPr lang="pt-BR" sz="2400" dirty="0" err="1"/>
              <a:t>Yosys</a:t>
            </a:r>
            <a:r>
              <a:rPr lang="pt-BR" sz="2400" dirty="0"/>
              <a:t> (para </a:t>
            </a:r>
            <a:r>
              <a:rPr lang="pt-BR" sz="2400" dirty="0" err="1"/>
              <a:t>Verilog</a:t>
            </a:r>
            <a:r>
              <a:rPr lang="pt-BR" sz="2400" dirty="0"/>
              <a:t> </a:t>
            </a:r>
            <a:r>
              <a:rPr lang="pt-BR" sz="2400" dirty="0" err="1"/>
              <a:t>elaboration</a:t>
            </a:r>
            <a:r>
              <a:rPr lang="pt-BR" sz="2400" dirty="0"/>
              <a:t> / </a:t>
            </a:r>
            <a:r>
              <a:rPr lang="pt-BR" sz="2400" dirty="0" err="1"/>
              <a:t>assertions</a:t>
            </a:r>
            <a:r>
              <a:rPr lang="pt-BR" sz="2400" dirty="0"/>
              <a:t> </a:t>
            </a:r>
            <a:r>
              <a:rPr lang="pt-BR" sz="2400" dirty="0" err="1"/>
              <a:t>synthesis</a:t>
            </a:r>
            <a:r>
              <a:rPr lang="pt-BR" sz="2400" dirty="0"/>
              <a:t>) ou scripts de pré-processamento para aumentar compatibilidade</a:t>
            </a:r>
          </a:p>
          <a:p>
            <a:pPr lvl="1" algn="just"/>
            <a:endParaRPr lang="pt-BR" sz="2400" dirty="0"/>
          </a:p>
          <a:p>
            <a:pPr algn="just"/>
            <a:r>
              <a:rPr lang="pt-BR" sz="2400" dirty="0"/>
              <a:t>O </a:t>
            </a:r>
            <a:r>
              <a:rPr lang="pt-BR" sz="2400" dirty="0" err="1"/>
              <a:t>Yosys</a:t>
            </a:r>
            <a:r>
              <a:rPr lang="pt-BR" sz="2400" dirty="0"/>
              <a:t> que já havia sido usado para melhorar a tradução agora foi usado dentro de um script para a automatização.</a:t>
            </a:r>
          </a:p>
          <a:p>
            <a:pPr algn="just"/>
            <a:endParaRPr lang="pt-BR" sz="2400" u="sng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071C41-47E2-7C58-F3FE-CD8A4ADD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9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0294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85DA8-2CF5-6E9E-A2DA-3679299C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A942AF-EF46-003B-E6A1-35A1461B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10</a:t>
            </a:fld>
            <a:endParaRPr lang="pt-BR" noProof="0"/>
          </a:p>
        </p:txBody>
      </p:sp>
      <p:pic>
        <p:nvPicPr>
          <p:cNvPr id="8" name="Espaço Reservado para Conteúdo 7" descr="Texto&#10;&#10;O conteúdo gerado por IA pode estar incorreto.">
            <a:extLst>
              <a:ext uri="{FF2B5EF4-FFF2-40B4-BE49-F238E27FC236}">
                <a16:creationId xmlns:a16="http://schemas.microsoft.com/office/drawing/2014/main" id="{FACEDA29-9B42-FF67-1A51-E3778838A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46111" y="1517536"/>
            <a:ext cx="10489062" cy="174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906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6819C-629D-DAF6-73B5-9D925663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4</a:t>
            </a:r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50E05DF2-A3DB-8E86-1CCE-DA581FB9A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1442" y="0"/>
            <a:ext cx="3552672" cy="6558780"/>
          </a:xfr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80D859-638F-6CB0-0D39-4C0CE54A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11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26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4A48E-D4DF-6C4C-EEA8-ADC53CAF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5</a:t>
            </a:r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0798668A-D504-C72F-A314-C513A5680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331119"/>
            <a:ext cx="5928860" cy="4195762"/>
          </a:xfr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98902B-9583-3D7B-CDCD-E4904749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12</a:t>
            </a:fld>
            <a:endParaRPr lang="pt-BR" noProof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C4383289-EB00-759D-09A7-87410F6210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560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F8171-797F-7EC2-1DBE-6E6BDD24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CEFE59-488E-38D4-7EA2-9C11E079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13</a:t>
            </a:fld>
            <a:endParaRPr lang="pt-BR" noProof="0"/>
          </a:p>
        </p:txBody>
      </p:sp>
      <p:pic>
        <p:nvPicPr>
          <p:cNvPr id="9" name="Espaço Reservado para Conteúdo 8" descr="Tabela&#10;&#10;O conteúdo gerado por IA pode estar incorreto.">
            <a:extLst>
              <a:ext uri="{FF2B5EF4-FFF2-40B4-BE49-F238E27FC236}">
                <a16:creationId xmlns:a16="http://schemas.microsoft.com/office/drawing/2014/main" id="{7A7DE322-3266-2940-042C-AD3419835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684" y="2015435"/>
            <a:ext cx="8947150" cy="194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8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design abstrato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Agradecemos!</a:t>
            </a:r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>
            <a:normAutofit/>
          </a:bodyPr>
          <a:lstStyle/>
          <a:p>
            <a:pPr rtl="0"/>
            <a:endParaRPr lang="pt-BR" dirty="0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F4E83C3-116B-2665-0A30-5F9B792C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pt-BR" noProof="0" smtClean="0"/>
              <a:t>14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108_TF78884036_Win32" id="{4C89C495-55DA-422F-99AE-8DF85A274AF2}" vid="{063601A3-806B-4CC4-9B30-26C03EA5568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digital</Template>
  <TotalTime>1020</TotalTime>
  <Words>582</Words>
  <Application>Microsoft Office PowerPoint</Application>
  <PresentationFormat>Widescreen</PresentationFormat>
  <Paragraphs>72</Paragraphs>
  <Slides>14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Íon</vt:lpstr>
      <vt:lpstr>Arquitetura e organização de computadores</vt:lpstr>
      <vt:lpstr>Objetivo geral da atividade:</vt:lpstr>
      <vt:lpstr>Objetivos específicos:</vt:lpstr>
      <vt:lpstr>Objetivo 1:</vt:lpstr>
      <vt:lpstr>Objetivo 1:</vt:lpstr>
      <vt:lpstr>Objetivo 1:</vt:lpstr>
      <vt:lpstr>Objetivo 1:</vt:lpstr>
      <vt:lpstr>Objetivo 1:</vt:lpstr>
      <vt:lpstr>Objetivo 2:</vt:lpstr>
      <vt:lpstr>Objetivo 3</vt:lpstr>
      <vt:lpstr>Objetivo 4</vt:lpstr>
      <vt:lpstr>Objetivo 5</vt:lpstr>
      <vt:lpstr>Objetivo 5</vt:lpstr>
      <vt:lpstr>Agradecemos!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Paulo Gentil</dc:creator>
  <cp:lastModifiedBy>João Paulo Gentil</cp:lastModifiedBy>
  <cp:revision>4</cp:revision>
  <dcterms:created xsi:type="dcterms:W3CDTF">2026-01-14T19:38:24Z</dcterms:created>
  <dcterms:modified xsi:type="dcterms:W3CDTF">2026-01-15T12:38:46Z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